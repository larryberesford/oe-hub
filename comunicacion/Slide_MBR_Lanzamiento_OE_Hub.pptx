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para que Ricardo Almanza presente el OE MLM Hub en la MBR de líderes. Usa una captura real de la pantalla de Inicio del Hub como elemento visual dominante (a pedido de Ricardo). Incluye las 4 secciones principales y la invitación a las 4 sesiones de presentación en vivo (5-8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394960" cy="5257800"/>
          </a:xfrm>
          <a:prstGeom prst="rect">
            <a:avLst/>
          </a:prstGeom>
          <a:solidFill>
            <a:srgbClr val="1A1A1A"/>
          </a:solidFill>
          <a:ln/>
        </p:spPr>
      </p:sp>
      <p:sp>
        <p:nvSpPr>
          <p:cNvPr id="3" name="Shape 1"/>
          <p:cNvSpPr/>
          <p:nvPr/>
        </p:nvSpPr>
        <p:spPr>
          <a:xfrm>
            <a:off x="5394960" y="0"/>
            <a:ext cx="6793992" cy="5257800"/>
          </a:xfrm>
          <a:prstGeom prst="rect">
            <a:avLst/>
          </a:prstGeom>
          <a:solidFill>
            <a:srgbClr val="FAFAFA"/>
          </a:solidFill>
          <a:ln/>
        </p:spPr>
      </p:sp>
      <p:sp>
        <p:nvSpPr>
          <p:cNvPr id="4" name="Text 2"/>
          <p:cNvSpPr txBox="1"/>
          <p:nvPr/>
        </p:nvSpPr>
        <p:spPr>
          <a:xfrm>
            <a:off x="457200" y="365760"/>
            <a:ext cx="4572000" cy="274320"/>
          </a:xfrm>
          <a:prstGeom prst="rect">
            <a:avLst/>
          </a:prstGeom>
          <a:noFill/>
          <a:ln/>
        </p:spPr>
        <p:txBody>
          <a:bodyPr wrap="square" lIns="0" tIns="0" rIns="0" bIns="0" rtlCol="0" anchor="ctr"/>
          <a:lstStyle/>
          <a:p>
            <a:pPr indent="0" marL="0">
              <a:buNone/>
            </a:pPr>
            <a:r>
              <a:rPr lang="en-US" sz="1100" b="1" spc="200" kern="0" dirty="0">
                <a:solidFill>
                  <a:srgbClr val="FFD001"/>
                </a:solidFill>
                <a:latin typeface="Calibri" pitchFamily="34" charset="0"/>
                <a:ea typeface="Calibri" pitchFamily="34" charset="-122"/>
                <a:cs typeface="Calibri" pitchFamily="34" charset="-120"/>
              </a:rPr>
              <a:t>MERCADO LIBRE  ·  MLM</a:t>
            </a:r>
            <a:endParaRPr lang="en-US" sz="1100" dirty="0"/>
          </a:p>
        </p:txBody>
      </p:sp>
      <p:sp>
        <p:nvSpPr>
          <p:cNvPr id="5" name="Shape 3"/>
          <p:cNvSpPr/>
          <p:nvPr/>
        </p:nvSpPr>
        <p:spPr>
          <a:xfrm>
            <a:off x="457200" y="713232"/>
            <a:ext cx="3063240" cy="347472"/>
          </a:xfrm>
          <a:prstGeom prst="roundRect">
            <a:avLst>
              <a:gd name="adj" fmla="val 50000"/>
            </a:avLst>
          </a:prstGeom>
          <a:solidFill>
            <a:srgbClr val="2A2A2A"/>
          </a:solidFill>
          <a:ln/>
        </p:spPr>
      </p:sp>
      <p:sp>
        <p:nvSpPr>
          <p:cNvPr id="6" name="Shape 4"/>
          <p:cNvSpPr/>
          <p:nvPr/>
        </p:nvSpPr>
        <p:spPr>
          <a:xfrm>
            <a:off x="621792" y="859536"/>
            <a:ext cx="91440" cy="91440"/>
          </a:xfrm>
          <a:prstGeom prst="ellipse">
            <a:avLst/>
          </a:prstGeom>
          <a:solidFill>
            <a:srgbClr val="2ECC71"/>
          </a:solidFill>
          <a:ln/>
        </p:spPr>
      </p:sp>
      <p:sp>
        <p:nvSpPr>
          <p:cNvPr id="7" name="Text 5"/>
          <p:cNvSpPr txBox="1"/>
          <p:nvPr/>
        </p:nvSpPr>
        <p:spPr>
          <a:xfrm>
            <a:off x="777240" y="713232"/>
            <a:ext cx="2651760" cy="347472"/>
          </a:xfrm>
          <a:prstGeom prst="rect">
            <a:avLst/>
          </a:prstGeom>
          <a:noFill/>
          <a:ln/>
        </p:spPr>
        <p:txBody>
          <a:bodyPr wrap="square" lIns="0" tIns="0" rIns="0" bIns="0" rtlCol="0" anchor="ctr"/>
          <a:lstStyle/>
          <a:p>
            <a:pPr algn="l" indent="0" marL="0">
              <a:buNone/>
            </a:pPr>
            <a:r>
              <a:rPr lang="en-US" sz="950" b="1" dirty="0">
                <a:solidFill>
                  <a:srgbClr val="FFD001"/>
                </a:solidFill>
                <a:latin typeface="Calibri" pitchFamily="34" charset="0"/>
                <a:ea typeface="Calibri" pitchFamily="34" charset="-122"/>
                <a:cs typeface="Calibri" pitchFamily="34" charset="-120"/>
              </a:rPr>
              <a:t>DISPONIBLE PARA TODO MLM MÉXICO</a:t>
            </a:r>
            <a:endParaRPr lang="en-US" sz="950" dirty="0"/>
          </a:p>
        </p:txBody>
      </p:sp>
      <p:sp>
        <p:nvSpPr>
          <p:cNvPr id="8" name="Text 6"/>
          <p:cNvSpPr txBox="1"/>
          <p:nvPr/>
        </p:nvSpPr>
        <p:spPr>
          <a:xfrm>
            <a:off x="457200" y="1234440"/>
            <a:ext cx="4663440" cy="54864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El OE MLM Hub</a:t>
            </a:r>
            <a:endParaRPr lang="en-US" sz="3200" dirty="0"/>
          </a:p>
        </p:txBody>
      </p:sp>
      <p:sp>
        <p:nvSpPr>
          <p:cNvPr id="9" name="Text 7"/>
          <p:cNvSpPr txBox="1"/>
          <p:nvPr/>
        </p:nvSpPr>
        <p:spPr>
          <a:xfrm>
            <a:off x="457200" y="1783080"/>
            <a:ext cx="4663440" cy="411480"/>
          </a:xfrm>
          <a:prstGeom prst="rect">
            <a:avLst/>
          </a:prstGeom>
          <a:noFill/>
          <a:ln/>
        </p:spPr>
        <p:txBody>
          <a:bodyPr wrap="square" lIns="0" tIns="0" rIns="0" bIns="0" rtlCol="0" anchor="ctr"/>
          <a:lstStyle/>
          <a:p>
            <a:pPr indent="0" marL="0">
              <a:buNone/>
            </a:pPr>
            <a:r>
              <a:rPr lang="en-US" sz="1700" b="1" dirty="0">
                <a:solidFill>
                  <a:srgbClr val="FFD001"/>
                </a:solidFill>
                <a:latin typeface="Calibri" pitchFamily="34" charset="0"/>
                <a:ea typeface="Calibri" pitchFamily="34" charset="-122"/>
                <a:cs typeface="Calibri" pitchFamily="34" charset="-120"/>
              </a:rPr>
              <a:t>Fuente oficial de Excelencia Operacional</a:t>
            </a:r>
            <a:endParaRPr lang="en-US" sz="1700" dirty="0"/>
          </a:p>
        </p:txBody>
      </p:sp>
      <p:sp>
        <p:nvSpPr>
          <p:cNvPr id="10" name="Text 8"/>
          <p:cNvSpPr txBox="1"/>
          <p:nvPr/>
        </p:nvSpPr>
        <p:spPr>
          <a:xfrm>
            <a:off x="457200" y="2331720"/>
            <a:ext cx="4617720" cy="777240"/>
          </a:xfrm>
          <a:prstGeom prst="rect">
            <a:avLst/>
          </a:prstGeom>
          <a:noFill/>
          <a:ln/>
        </p:spPr>
        <p:txBody>
          <a:bodyPr wrap="square" lIns="0" tIns="0" rIns="0" bIns="0" rtlCol="0" anchor="ctr"/>
          <a:lstStyle/>
          <a:p>
            <a:pPr indent="0" marL="0">
              <a:lnSpc>
                <a:spcPts val="1700"/>
              </a:lnSpc>
              <a:buNone/>
            </a:pPr>
            <a:r>
              <a:rPr lang="en-US" sz="1250" dirty="0">
                <a:solidFill>
                  <a:srgbClr val="CCCCCC"/>
                </a:solidFill>
                <a:latin typeface="Calibri" pitchFamily="34" charset="0"/>
                <a:ea typeface="Calibri" pitchFamily="34" charset="-122"/>
                <a:cs typeface="Calibri" pitchFamily="34" charset="-120"/>
              </a:rPr>
              <a:t>Centraliza en un solo lugar lo que antes vivía repartido entre correos, Drive y WhatsApp — actualizado cada mes, para todo MLM México de Coordinador a Director.</a:t>
            </a:r>
            <a:endParaRPr lang="en-US" sz="1250" dirty="0"/>
          </a:p>
        </p:txBody>
      </p:sp>
      <p:sp>
        <p:nvSpPr>
          <p:cNvPr id="11" name="Shape 9"/>
          <p:cNvSpPr/>
          <p:nvPr/>
        </p:nvSpPr>
        <p:spPr>
          <a:xfrm>
            <a:off x="457200" y="3246120"/>
            <a:ext cx="2212848" cy="475488"/>
          </a:xfrm>
          <a:prstGeom prst="roundRect">
            <a:avLst>
              <a:gd name="adj" fmla="val 11538"/>
            </a:avLst>
          </a:prstGeom>
          <a:solidFill>
            <a:srgbClr val="2A2A2A"/>
          </a:solidFill>
          <a:ln/>
        </p:spPr>
      </p:sp>
      <p:sp>
        <p:nvSpPr>
          <p:cNvPr id="12" name="Shape 10"/>
          <p:cNvSpPr/>
          <p:nvPr/>
        </p:nvSpPr>
        <p:spPr>
          <a:xfrm>
            <a:off x="585216" y="3419856"/>
            <a:ext cx="128016" cy="128016"/>
          </a:xfrm>
          <a:prstGeom prst="roundRect">
            <a:avLst>
              <a:gd name="adj" fmla="val 21429"/>
            </a:avLst>
          </a:prstGeom>
          <a:solidFill>
            <a:srgbClr val="FFD001"/>
          </a:solidFill>
          <a:ln/>
        </p:spPr>
      </p:sp>
      <p:sp>
        <p:nvSpPr>
          <p:cNvPr id="13" name="Text 11"/>
          <p:cNvSpPr txBox="1"/>
          <p:nvPr/>
        </p:nvSpPr>
        <p:spPr>
          <a:xfrm>
            <a:off x="804672" y="3246120"/>
            <a:ext cx="1755648" cy="4754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Gestión</a:t>
            </a:r>
            <a:endParaRPr lang="en-US" sz="1050" dirty="0"/>
          </a:p>
        </p:txBody>
      </p:sp>
      <p:sp>
        <p:nvSpPr>
          <p:cNvPr id="14" name="Shape 12"/>
          <p:cNvSpPr/>
          <p:nvPr/>
        </p:nvSpPr>
        <p:spPr>
          <a:xfrm>
            <a:off x="2816352" y="3246120"/>
            <a:ext cx="2212848" cy="475488"/>
          </a:xfrm>
          <a:prstGeom prst="roundRect">
            <a:avLst>
              <a:gd name="adj" fmla="val 11538"/>
            </a:avLst>
          </a:prstGeom>
          <a:solidFill>
            <a:srgbClr val="2A2A2A"/>
          </a:solidFill>
          <a:ln/>
        </p:spPr>
      </p:sp>
      <p:sp>
        <p:nvSpPr>
          <p:cNvPr id="15" name="Shape 13"/>
          <p:cNvSpPr/>
          <p:nvPr/>
        </p:nvSpPr>
        <p:spPr>
          <a:xfrm>
            <a:off x="2944368" y="3419856"/>
            <a:ext cx="128016" cy="128016"/>
          </a:xfrm>
          <a:prstGeom prst="roundRect">
            <a:avLst>
              <a:gd name="adj" fmla="val 21429"/>
            </a:avLst>
          </a:prstGeom>
          <a:solidFill>
            <a:srgbClr val="43B0F1"/>
          </a:solidFill>
          <a:ln/>
        </p:spPr>
      </p:sp>
      <p:sp>
        <p:nvSpPr>
          <p:cNvPr id="16" name="Text 14"/>
          <p:cNvSpPr txBox="1"/>
          <p:nvPr/>
        </p:nvSpPr>
        <p:spPr>
          <a:xfrm>
            <a:off x="3163824" y="3246120"/>
            <a:ext cx="1755648" cy="4754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Rutinas</a:t>
            </a:r>
            <a:endParaRPr lang="en-US" sz="1050" dirty="0"/>
          </a:p>
        </p:txBody>
      </p:sp>
      <p:sp>
        <p:nvSpPr>
          <p:cNvPr id="17" name="Shape 15"/>
          <p:cNvSpPr/>
          <p:nvPr/>
        </p:nvSpPr>
        <p:spPr>
          <a:xfrm>
            <a:off x="457200" y="3849624"/>
            <a:ext cx="2212848" cy="475488"/>
          </a:xfrm>
          <a:prstGeom prst="roundRect">
            <a:avLst>
              <a:gd name="adj" fmla="val 11538"/>
            </a:avLst>
          </a:prstGeom>
          <a:solidFill>
            <a:srgbClr val="2A2A2A"/>
          </a:solidFill>
          <a:ln/>
        </p:spPr>
      </p:sp>
      <p:sp>
        <p:nvSpPr>
          <p:cNvPr id="18" name="Shape 16"/>
          <p:cNvSpPr/>
          <p:nvPr/>
        </p:nvSpPr>
        <p:spPr>
          <a:xfrm>
            <a:off x="585216" y="4023360"/>
            <a:ext cx="128016" cy="128016"/>
          </a:xfrm>
          <a:prstGeom prst="roundRect">
            <a:avLst>
              <a:gd name="adj" fmla="val 21429"/>
            </a:avLst>
          </a:prstGeom>
          <a:solidFill>
            <a:srgbClr val="8B7CF6"/>
          </a:solidFill>
          <a:ln/>
        </p:spPr>
      </p:sp>
      <p:sp>
        <p:nvSpPr>
          <p:cNvPr id="19" name="Text 17"/>
          <p:cNvSpPr txBox="1"/>
          <p:nvPr/>
        </p:nvSpPr>
        <p:spPr>
          <a:xfrm>
            <a:off x="804672" y="3849624"/>
            <a:ext cx="1755648" cy="4754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Directorio</a:t>
            </a:r>
            <a:endParaRPr lang="en-US" sz="1050" dirty="0"/>
          </a:p>
        </p:txBody>
      </p:sp>
      <p:sp>
        <p:nvSpPr>
          <p:cNvPr id="20" name="Shape 18"/>
          <p:cNvSpPr/>
          <p:nvPr/>
        </p:nvSpPr>
        <p:spPr>
          <a:xfrm>
            <a:off x="2816352" y="3849624"/>
            <a:ext cx="2212848" cy="475488"/>
          </a:xfrm>
          <a:prstGeom prst="roundRect">
            <a:avLst>
              <a:gd name="adj" fmla="val 11538"/>
            </a:avLst>
          </a:prstGeom>
          <a:solidFill>
            <a:srgbClr val="2A2A2A"/>
          </a:solidFill>
          <a:ln/>
        </p:spPr>
      </p:sp>
      <p:sp>
        <p:nvSpPr>
          <p:cNvPr id="21" name="Shape 19"/>
          <p:cNvSpPr/>
          <p:nvPr/>
        </p:nvSpPr>
        <p:spPr>
          <a:xfrm>
            <a:off x="2944368" y="4023360"/>
            <a:ext cx="128016" cy="128016"/>
          </a:xfrm>
          <a:prstGeom prst="roundRect">
            <a:avLst>
              <a:gd name="adj" fmla="val 21429"/>
            </a:avLst>
          </a:prstGeom>
          <a:solidFill>
            <a:srgbClr val="45C4A0"/>
          </a:solidFill>
          <a:ln/>
        </p:spPr>
      </p:sp>
      <p:sp>
        <p:nvSpPr>
          <p:cNvPr id="22" name="Text 20"/>
          <p:cNvSpPr txBox="1"/>
          <p:nvPr/>
        </p:nvSpPr>
        <p:spPr>
          <a:xfrm>
            <a:off x="3163824" y="3849624"/>
            <a:ext cx="1755648" cy="47548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Aprendizaje Continuo</a:t>
            </a:r>
            <a:endParaRPr lang="en-US" sz="1050" dirty="0"/>
          </a:p>
        </p:txBody>
      </p:sp>
      <p:sp>
        <p:nvSpPr>
          <p:cNvPr id="23" name="Text 21"/>
          <p:cNvSpPr txBox="1"/>
          <p:nvPr/>
        </p:nvSpPr>
        <p:spPr>
          <a:xfrm>
            <a:off x="457200" y="4526280"/>
            <a:ext cx="4663440" cy="365760"/>
          </a:xfrm>
          <a:prstGeom prst="rect">
            <a:avLst/>
          </a:prstGeom>
          <a:noFill/>
          <a:ln/>
        </p:spPr>
        <p:txBody>
          <a:bodyPr wrap="square" lIns="0" tIns="0" rIns="0" bIns="0" rtlCol="0" anchor="ctr"/>
          <a:lstStyle/>
          <a:p>
            <a:pPr indent="0" marL="0">
              <a:buNone/>
            </a:pPr>
            <a:r>
              <a:rPr lang="en-US" sz="1000" i="1" dirty="0">
                <a:solidFill>
                  <a:srgbClr val="999999"/>
                </a:solidFill>
                <a:latin typeface="Calibri" pitchFamily="34" charset="0"/>
                <a:ea typeface="Calibri" pitchFamily="34" charset="-122"/>
                <a:cs typeface="Calibri" pitchFamily="34" charset="-120"/>
              </a:rPr>
              <a:t>+ Playbooks, sesiones grabadas y documentación en español, inglés y portugués.</a:t>
            </a:r>
            <a:endParaRPr lang="en-US" sz="1000" dirty="0"/>
          </a:p>
        </p:txBody>
      </p:sp>
      <p:sp>
        <p:nvSpPr>
          <p:cNvPr id="24" name="Shape 22"/>
          <p:cNvSpPr/>
          <p:nvPr/>
        </p:nvSpPr>
        <p:spPr>
          <a:xfrm>
            <a:off x="5704107" y="265176"/>
            <a:ext cx="6175698" cy="4727448"/>
          </a:xfrm>
          <a:prstGeom prst="roundRect">
            <a:avLst>
              <a:gd name="adj" fmla="val 967"/>
            </a:avLst>
          </a:prstGeom>
          <a:solidFill>
            <a:srgbClr val="FFFFFF"/>
          </a:solidFill>
          <a:ln w="12700">
            <a:solidFill>
              <a:srgbClr val="E0E0E0"/>
            </a:solidFill>
            <a:prstDash val="solid"/>
          </a:ln>
          <a:effectLst>
            <a:outerShdw sx="100000" sy="100000" kx="0" ky="0" algn="bl" rotWithShape="0" blurRad="228600" dist="76200" dir="5400000">
              <a:srgbClr val="000000">
                <a:alpha val="28000"/>
              </a:srgbClr>
            </a:outerShdw>
          </a:effectLst>
        </p:spPr>
      </p:sp>
      <p:pic>
        <p:nvPicPr>
          <p:cNvPr id="25" name="Image 0" descr="/sessions/charming-vigilant-cray/mnt/outputs/slidegen/hub_screenshot.jpg">    </p:cNvPr>
          <p:cNvPicPr>
            <a:picLocks noChangeAspect="1"/>
          </p:cNvPicPr>
          <p:nvPr/>
        </p:nvPicPr>
        <p:blipFill>
          <a:blip r:embed="rId1"/>
          <a:stretch>
            <a:fillRect/>
          </a:stretch>
        </p:blipFill>
        <p:spPr>
          <a:xfrm>
            <a:off x="5758971" y="320040"/>
            <a:ext cx="6065970" cy="4617720"/>
          </a:xfrm>
          <a:prstGeom prst="rect">
            <a:avLst/>
          </a:prstGeom>
        </p:spPr>
      </p:pic>
      <p:sp>
        <p:nvSpPr>
          <p:cNvPr id="26" name="Text 23"/>
          <p:cNvSpPr txBox="1"/>
          <p:nvPr/>
        </p:nvSpPr>
        <p:spPr>
          <a:xfrm>
            <a:off x="5394960" y="5047488"/>
            <a:ext cx="6793992" cy="274320"/>
          </a:xfrm>
          <a:prstGeom prst="rect">
            <a:avLst/>
          </a:prstGeom>
          <a:noFill/>
          <a:ln/>
        </p:spPr>
        <p:txBody>
          <a:bodyPr wrap="square" lIns="0" tIns="0" rIns="0" bIns="0" rtlCol="0" anchor="ctr"/>
          <a:lstStyle/>
          <a:p>
            <a:pPr algn="ctr" indent="0" marL="0">
              <a:buNone/>
            </a:pPr>
            <a:r>
              <a:rPr lang="en-US" sz="1000" dirty="0">
                <a:solidFill>
                  <a:srgbClr val="999999"/>
                </a:solidFill>
                <a:latin typeface="Calibri" pitchFamily="34" charset="0"/>
                <a:ea typeface="Calibri" pitchFamily="34" charset="-122"/>
                <a:cs typeface="Calibri" pitchFamily="34" charset="-120"/>
              </a:rPr>
              <a:t>oe-hub-mu.vercel.app — pantalla de Inicio</a:t>
            </a:r>
            <a:endParaRPr lang="en-US" sz="1000" dirty="0"/>
          </a:p>
        </p:txBody>
      </p:sp>
      <p:sp>
        <p:nvSpPr>
          <p:cNvPr id="27" name="Shape 24"/>
          <p:cNvSpPr/>
          <p:nvPr/>
        </p:nvSpPr>
        <p:spPr>
          <a:xfrm>
            <a:off x="457200" y="5394960"/>
            <a:ext cx="11274552" cy="868680"/>
          </a:xfrm>
          <a:prstGeom prst="roundRect">
            <a:avLst>
              <a:gd name="adj" fmla="val 8421"/>
            </a:avLst>
          </a:prstGeom>
          <a:solidFill>
            <a:srgbClr val="FFFBEA"/>
          </a:solidFill>
          <a:ln w="12700">
            <a:solidFill>
              <a:srgbClr val="FFE9A8"/>
            </a:solidFill>
            <a:prstDash val="solid"/>
          </a:ln>
        </p:spPr>
      </p:sp>
      <p:sp>
        <p:nvSpPr>
          <p:cNvPr id="28" name="Text 25"/>
          <p:cNvSpPr txBox="1"/>
          <p:nvPr/>
        </p:nvSpPr>
        <p:spPr>
          <a:xfrm>
            <a:off x="731520" y="5486400"/>
            <a:ext cx="5486400" cy="347472"/>
          </a:xfrm>
          <a:prstGeom prst="rect">
            <a:avLst/>
          </a:prstGeom>
          <a:noFill/>
          <a:ln/>
        </p:spPr>
        <p:txBody>
          <a:bodyPr wrap="square" lIns="0" tIns="0" rIns="0" bIns="0" rtlCol="0" anchor="ctr"/>
          <a:lstStyle/>
          <a:p>
            <a:pPr indent="0" marL="0">
              <a:buNone/>
            </a:pPr>
            <a:r>
              <a:rPr lang="en-US" sz="1700" b="1" dirty="0">
                <a:solidFill>
                  <a:srgbClr val="1A1A1A"/>
                </a:solidFill>
                <a:latin typeface="Calibri" pitchFamily="34" charset="0"/>
                <a:ea typeface="Calibri" pitchFamily="34" charset="-122"/>
                <a:cs typeface="Calibri" pitchFamily="34" charset="-120"/>
              </a:rPr>
              <a:t>oe-hub-mu.vercel.app  </a:t>
            </a:r>
            <a:pPr indent="0" marL="0">
              <a:buNone/>
            </a:pPr>
            <a:r>
              <a:rPr lang="en-US" sz="1700" b="1" dirty="0">
                <a:solidFill>
                  <a:srgbClr val="E6BB00"/>
                </a:solidFill>
                <a:latin typeface="Calibri" pitchFamily="34" charset="0"/>
                <a:ea typeface="Calibri" pitchFamily="34" charset="-122"/>
                <a:cs typeface="Calibri" pitchFamily="34" charset="-120"/>
              </a:rPr>
              <a:t>→</a:t>
            </a:r>
            <a:endParaRPr lang="en-US" sz="1700" dirty="0"/>
          </a:p>
        </p:txBody>
      </p:sp>
      <p:sp>
        <p:nvSpPr>
          <p:cNvPr id="29" name="Text 26"/>
          <p:cNvSpPr txBox="1"/>
          <p:nvPr/>
        </p:nvSpPr>
        <p:spPr>
          <a:xfrm>
            <a:off x="731520" y="5852160"/>
            <a:ext cx="5486400" cy="292608"/>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Entra hoy mismo y explóralo con tu equipo.</a:t>
            </a:r>
            <a:endParaRPr lang="en-US" sz="1100" dirty="0"/>
          </a:p>
        </p:txBody>
      </p:sp>
      <p:sp>
        <p:nvSpPr>
          <p:cNvPr id="30" name="Text 27"/>
          <p:cNvSpPr txBox="1"/>
          <p:nvPr/>
        </p:nvSpPr>
        <p:spPr>
          <a:xfrm>
            <a:off x="6492240" y="5504688"/>
            <a:ext cx="5029200" cy="256032"/>
          </a:xfrm>
          <a:prstGeom prst="rect">
            <a:avLst/>
          </a:prstGeom>
          <a:noFill/>
          <a:ln/>
        </p:spPr>
        <p:txBody>
          <a:bodyPr wrap="square" lIns="0" tIns="0" rIns="0" bIns="0" rtlCol="0" anchor="ctr"/>
          <a:lstStyle/>
          <a:p>
            <a:pPr algn="r" indent="0" marL="0">
              <a:buNone/>
            </a:pPr>
            <a:r>
              <a:rPr lang="en-US" sz="900" b="1" spc="100" kern="0" dirty="0">
                <a:solidFill>
                  <a:srgbClr val="888888"/>
                </a:solidFill>
                <a:latin typeface="Calibri" pitchFamily="34" charset="0"/>
                <a:ea typeface="Calibri" pitchFamily="34" charset="-122"/>
                <a:cs typeface="Calibri" pitchFamily="34" charset="-120"/>
              </a:rPr>
              <a:t>SESIONES DE PRESENTACIÓN EN VIVO (30 MIN)</a:t>
            </a:r>
            <a:endParaRPr lang="en-US" sz="900" dirty="0"/>
          </a:p>
        </p:txBody>
      </p:sp>
      <p:sp>
        <p:nvSpPr>
          <p:cNvPr id="31" name="Shape 28"/>
          <p:cNvSpPr/>
          <p:nvPr/>
        </p:nvSpPr>
        <p:spPr>
          <a:xfrm>
            <a:off x="6592824" y="5815584"/>
            <a:ext cx="1170432" cy="329184"/>
          </a:xfrm>
          <a:prstGeom prst="roundRect">
            <a:avLst>
              <a:gd name="adj" fmla="val 16667"/>
            </a:avLst>
          </a:prstGeom>
          <a:solidFill>
            <a:srgbClr val="1A1A1A"/>
          </a:solidFill>
          <a:ln/>
        </p:spPr>
      </p:sp>
      <p:sp>
        <p:nvSpPr>
          <p:cNvPr id="32" name="Text 29"/>
          <p:cNvSpPr txBox="1"/>
          <p:nvPr/>
        </p:nvSpPr>
        <p:spPr>
          <a:xfrm>
            <a:off x="6592824" y="5815584"/>
            <a:ext cx="1170432" cy="329184"/>
          </a:xfrm>
          <a:prstGeom prst="rect">
            <a:avLst/>
          </a:prstGeom>
          <a:noFill/>
          <a:ln/>
        </p:spPr>
        <p:txBody>
          <a:bodyPr wrap="square" lIns="0" tIns="0" rIns="0" bIns="0" rtlCol="0" anchor="ctr"/>
          <a:lstStyle/>
          <a:p>
            <a:pPr algn="ctr" indent="0" marL="0">
              <a:buNone/>
            </a:pPr>
            <a:r>
              <a:rPr lang="en-US" sz="950" b="1" dirty="0">
                <a:solidFill>
                  <a:srgbClr val="FFD001"/>
                </a:solidFill>
                <a:latin typeface="Calibri" pitchFamily="34" charset="0"/>
                <a:ea typeface="Calibri" pitchFamily="34" charset="-122"/>
                <a:cs typeface="Calibri" pitchFamily="34" charset="-120"/>
              </a:rPr>
              <a:t>Lun 5 · 10am</a:t>
            </a:r>
            <a:endParaRPr lang="en-US" sz="950" dirty="0"/>
          </a:p>
        </p:txBody>
      </p:sp>
      <p:sp>
        <p:nvSpPr>
          <p:cNvPr id="33" name="Shape 30"/>
          <p:cNvSpPr/>
          <p:nvPr/>
        </p:nvSpPr>
        <p:spPr>
          <a:xfrm>
            <a:off x="7854696" y="5815584"/>
            <a:ext cx="1170432" cy="329184"/>
          </a:xfrm>
          <a:prstGeom prst="roundRect">
            <a:avLst>
              <a:gd name="adj" fmla="val 16667"/>
            </a:avLst>
          </a:prstGeom>
          <a:solidFill>
            <a:srgbClr val="1A1A1A"/>
          </a:solidFill>
          <a:ln/>
        </p:spPr>
      </p:sp>
      <p:sp>
        <p:nvSpPr>
          <p:cNvPr id="34" name="Text 31"/>
          <p:cNvSpPr txBox="1"/>
          <p:nvPr/>
        </p:nvSpPr>
        <p:spPr>
          <a:xfrm>
            <a:off x="7854696" y="5815584"/>
            <a:ext cx="1170432" cy="329184"/>
          </a:xfrm>
          <a:prstGeom prst="rect">
            <a:avLst/>
          </a:prstGeom>
          <a:noFill/>
          <a:ln/>
        </p:spPr>
        <p:txBody>
          <a:bodyPr wrap="square" lIns="0" tIns="0" rIns="0" bIns="0" rtlCol="0" anchor="ctr"/>
          <a:lstStyle/>
          <a:p>
            <a:pPr algn="ctr" indent="0" marL="0">
              <a:buNone/>
            </a:pPr>
            <a:r>
              <a:rPr lang="en-US" sz="950" b="1" dirty="0">
                <a:solidFill>
                  <a:srgbClr val="FFD001"/>
                </a:solidFill>
                <a:latin typeface="Calibri" pitchFamily="34" charset="0"/>
                <a:ea typeface="Calibri" pitchFamily="34" charset="-122"/>
                <a:cs typeface="Calibri" pitchFamily="34" charset="-120"/>
              </a:rPr>
              <a:t>Mar 6 · 1pm</a:t>
            </a:r>
            <a:endParaRPr lang="en-US" sz="950" dirty="0"/>
          </a:p>
        </p:txBody>
      </p:sp>
      <p:sp>
        <p:nvSpPr>
          <p:cNvPr id="35" name="Shape 32"/>
          <p:cNvSpPr/>
          <p:nvPr/>
        </p:nvSpPr>
        <p:spPr>
          <a:xfrm>
            <a:off x="9116568" y="5815584"/>
            <a:ext cx="1170432" cy="329184"/>
          </a:xfrm>
          <a:prstGeom prst="roundRect">
            <a:avLst>
              <a:gd name="adj" fmla="val 16667"/>
            </a:avLst>
          </a:prstGeom>
          <a:solidFill>
            <a:srgbClr val="1A1A1A"/>
          </a:solidFill>
          <a:ln/>
        </p:spPr>
      </p:sp>
      <p:sp>
        <p:nvSpPr>
          <p:cNvPr id="36" name="Text 33"/>
          <p:cNvSpPr txBox="1"/>
          <p:nvPr/>
        </p:nvSpPr>
        <p:spPr>
          <a:xfrm>
            <a:off x="9116568" y="5815584"/>
            <a:ext cx="1170432" cy="329184"/>
          </a:xfrm>
          <a:prstGeom prst="rect">
            <a:avLst/>
          </a:prstGeom>
          <a:noFill/>
          <a:ln/>
        </p:spPr>
        <p:txBody>
          <a:bodyPr wrap="square" lIns="0" tIns="0" rIns="0" bIns="0" rtlCol="0" anchor="ctr"/>
          <a:lstStyle/>
          <a:p>
            <a:pPr algn="ctr" indent="0" marL="0">
              <a:buNone/>
            </a:pPr>
            <a:r>
              <a:rPr lang="en-US" sz="950" b="1" dirty="0">
                <a:solidFill>
                  <a:srgbClr val="FFD001"/>
                </a:solidFill>
                <a:latin typeface="Calibri" pitchFamily="34" charset="0"/>
                <a:ea typeface="Calibri" pitchFamily="34" charset="-122"/>
                <a:cs typeface="Calibri" pitchFamily="34" charset="-120"/>
              </a:rPr>
              <a:t>Mié 7 · 4pm</a:t>
            </a:r>
            <a:endParaRPr lang="en-US" sz="950" dirty="0"/>
          </a:p>
        </p:txBody>
      </p:sp>
      <p:sp>
        <p:nvSpPr>
          <p:cNvPr id="37" name="Shape 34"/>
          <p:cNvSpPr/>
          <p:nvPr/>
        </p:nvSpPr>
        <p:spPr>
          <a:xfrm>
            <a:off x="10378440" y="5815584"/>
            <a:ext cx="1170432" cy="329184"/>
          </a:xfrm>
          <a:prstGeom prst="roundRect">
            <a:avLst>
              <a:gd name="adj" fmla="val 16667"/>
            </a:avLst>
          </a:prstGeom>
          <a:solidFill>
            <a:srgbClr val="1A1A1A"/>
          </a:solidFill>
          <a:ln/>
        </p:spPr>
      </p:sp>
      <p:sp>
        <p:nvSpPr>
          <p:cNvPr id="38" name="Text 35"/>
          <p:cNvSpPr txBox="1"/>
          <p:nvPr/>
        </p:nvSpPr>
        <p:spPr>
          <a:xfrm>
            <a:off x="10378440" y="5815584"/>
            <a:ext cx="1170432" cy="329184"/>
          </a:xfrm>
          <a:prstGeom prst="rect">
            <a:avLst/>
          </a:prstGeom>
          <a:noFill/>
          <a:ln/>
        </p:spPr>
        <p:txBody>
          <a:bodyPr wrap="square" lIns="0" tIns="0" rIns="0" bIns="0" rtlCol="0" anchor="ctr"/>
          <a:lstStyle/>
          <a:p>
            <a:pPr algn="ctr" indent="0" marL="0">
              <a:buNone/>
            </a:pPr>
            <a:r>
              <a:rPr lang="en-US" sz="950" b="1" dirty="0">
                <a:solidFill>
                  <a:srgbClr val="FFD001"/>
                </a:solidFill>
                <a:latin typeface="Calibri" pitchFamily="34" charset="0"/>
                <a:ea typeface="Calibri" pitchFamily="34" charset="-122"/>
                <a:cs typeface="Calibri" pitchFamily="34" charset="-120"/>
              </a:rPr>
              <a:t>Jue 8 · 6pm</a:t>
            </a:r>
            <a:endParaRPr lang="en-US" sz="950" dirty="0"/>
          </a:p>
        </p:txBody>
      </p:sp>
      <p:sp>
        <p:nvSpPr>
          <p:cNvPr id="39" name="Shape 36"/>
          <p:cNvSpPr/>
          <p:nvPr/>
        </p:nvSpPr>
        <p:spPr>
          <a:xfrm>
            <a:off x="0" y="6400800"/>
            <a:ext cx="12188952" cy="411480"/>
          </a:xfrm>
          <a:prstGeom prst="rect">
            <a:avLst/>
          </a:prstGeom>
          <a:solidFill>
            <a:srgbClr val="1A1A1A"/>
          </a:solidFill>
          <a:ln/>
        </p:spPr>
      </p:sp>
      <p:sp>
        <p:nvSpPr>
          <p:cNvPr id="40" name="Text 37"/>
          <p:cNvSpPr txBox="1"/>
          <p:nvPr/>
        </p:nvSpPr>
        <p:spPr>
          <a:xfrm>
            <a:off x="457200" y="6400800"/>
            <a:ext cx="5486400" cy="41148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OE MLM Hub · Excelencia Operacional MLM</a:t>
            </a:r>
            <a:endParaRPr lang="en-US" sz="1050" dirty="0"/>
          </a:p>
        </p:txBody>
      </p:sp>
      <p:sp>
        <p:nvSpPr>
          <p:cNvPr id="41" name="Text 38"/>
          <p:cNvSpPr txBox="1"/>
          <p:nvPr/>
        </p:nvSpPr>
        <p:spPr>
          <a:xfrm>
            <a:off x="6245352" y="6400800"/>
            <a:ext cx="5486400" cy="411480"/>
          </a:xfrm>
          <a:prstGeom prst="rect">
            <a:avLst/>
          </a:prstGeom>
          <a:noFill/>
          <a:ln/>
        </p:spPr>
        <p:txBody>
          <a:bodyPr wrap="square" lIns="0" tIns="0" rIns="0" bIns="0" rtlCol="0" anchor="ctr"/>
          <a:lstStyle/>
          <a:p>
            <a:pPr algn="r" indent="0" marL="0">
              <a:buNone/>
            </a:pPr>
            <a:r>
              <a:rPr lang="en-US" sz="1050" b="1" dirty="0">
                <a:solidFill>
                  <a:srgbClr val="FFD001"/>
                </a:solidFill>
                <a:latin typeface="Calibri" pitchFamily="34" charset="0"/>
                <a:ea typeface="Calibri" pitchFamily="34" charset="-122"/>
                <a:cs typeface="Calibri" pitchFamily="34" charset="-120"/>
              </a:rPr>
              <a:t>MBR de Líderes · Octubre 2026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2026-09-30T23:19:10Z</dcterms:created>
  <dcterms:modified xsi:type="dcterms:W3CDTF">2026-09-30T23:19:10Z</dcterms:modified>
</cp:coreProperties>
</file>